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8686800" y="1371600"/>
            <a:ext cx="2743200" cy="3657600"/>
          </a:xfrm>
          <a:prstGeom prst="rect">
            <a:avLst/>
          </a:prstGeom>
          <a:noFill/>
        </p:spPr>
        <p:txBody>
          <a:bodyPr wrap="square">
            <a:spAutoFit/>
          </a:bodyPr>
          <a:lstStyle/>
          <a:p>
            <a:pPr algn="ctr"/>
            <a:r>
              <a:rPr sz="18000" b="0" i="0">
                <a:solidFill>
                  <a:srgbClr val="2A2A4E"/>
                </a:solidFill>
              </a:rPr>
              <a:t>🎵</a:t>
            </a:r>
          </a:p>
        </p:txBody>
      </p:sp>
      <p:sp>
        <p:nvSpPr>
          <p:cNvPr id="3" name="TextBox 2"/>
          <p:cNvSpPr txBox="1"/>
          <p:nvPr/>
        </p:nvSpPr>
        <p:spPr>
          <a:xfrm>
            <a:off x="548640" y="1645920"/>
            <a:ext cx="8229600" cy="1280160"/>
          </a:xfrm>
          <a:prstGeom prst="rect">
            <a:avLst/>
          </a:prstGeom>
          <a:noFill/>
        </p:spPr>
        <p:txBody>
          <a:bodyPr wrap="square">
            <a:spAutoFit/>
          </a:bodyPr>
          <a:lstStyle/>
          <a:p>
            <a:pPr algn="l"/>
            <a:r>
              <a:rPr sz="6000" b="1" i="0">
                <a:solidFill>
                  <a:srgbClr val="FFFFFF"/>
                </a:solidFill>
              </a:rPr>
              <a:t>VibeMatch AI</a:t>
            </a:r>
          </a:p>
        </p:txBody>
      </p:sp>
      <p:sp>
        <p:nvSpPr>
          <p:cNvPr id="4" name="TextBox 3"/>
          <p:cNvSpPr txBox="1"/>
          <p:nvPr/>
        </p:nvSpPr>
        <p:spPr>
          <a:xfrm>
            <a:off x="548640" y="2834640"/>
            <a:ext cx="9144000" cy="640080"/>
          </a:xfrm>
          <a:prstGeom prst="rect">
            <a:avLst/>
          </a:prstGeom>
          <a:noFill/>
        </p:spPr>
        <p:txBody>
          <a:bodyPr wrap="square">
            <a:spAutoFit/>
          </a:bodyPr>
          <a:lstStyle/>
          <a:p>
            <a:pPr algn="l"/>
            <a:r>
              <a:rPr sz="2400" b="0" i="0">
                <a:solidFill>
                  <a:srgbClr val="CCCCCC"/>
                </a:solidFill>
              </a:rPr>
              <a:t>A Music Recommendation System Powered by RAG + Claude</a:t>
            </a:r>
          </a:p>
        </p:txBody>
      </p:sp>
      <p:sp>
        <p:nvSpPr>
          <p:cNvPr id="5" name="Rectangle 4"/>
          <p:cNvSpPr/>
          <p:nvPr/>
        </p:nvSpPr>
        <p:spPr>
          <a:xfrm>
            <a:off x="457200" y="3749039"/>
            <a:ext cx="11274552" cy="36576"/>
          </a:xfrm>
          <a:prstGeom prst="rect">
            <a:avLst/>
          </a:prstGeom>
          <a:solidFill>
            <a:srgbClr val="6C4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931920"/>
            <a:ext cx="8229600" cy="457200"/>
          </a:xfrm>
          <a:prstGeom prst="rect">
            <a:avLst/>
          </a:prstGeom>
          <a:noFill/>
        </p:spPr>
        <p:txBody>
          <a:bodyPr wrap="square">
            <a:spAutoFit/>
          </a:bodyPr>
          <a:lstStyle/>
          <a:p>
            <a:pPr algn="l"/>
            <a:r>
              <a:rPr sz="1800" b="0" i="1">
                <a:solidFill>
                  <a:srgbClr val="CCCCCC"/>
                </a:solidFill>
              </a:rPr>
              <a:t>CodePath AI110  ·  Applied AI Systems Project</a:t>
            </a:r>
          </a:p>
        </p:txBody>
      </p:sp>
      <p:sp>
        <p:nvSpPr>
          <p:cNvPr id="7" name="Rectangle 6"/>
          <p:cNvSpPr/>
          <p:nvPr/>
        </p:nvSpPr>
        <p:spPr>
          <a:xfrm>
            <a:off x="548640" y="6035040"/>
            <a:ext cx="6217920" cy="411480"/>
          </a:xfrm>
          <a:prstGeom prst="rect">
            <a:avLst/>
          </a:prstGeom>
          <a:solidFill>
            <a:srgbClr val="2A2A4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00D4AA"/>
                </a:solidFill>
              </a:rPr>
              <a:t>github.com/yarinacs/applied-ai-system-project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28600"/>
            <a:ext cx="10972800" cy="594360"/>
          </a:xfrm>
          <a:prstGeom prst="rect">
            <a:avLst/>
          </a:prstGeom>
          <a:noFill/>
        </p:spPr>
        <p:txBody>
          <a:bodyPr wrap="square">
            <a:spAutoFit/>
          </a:bodyPr>
          <a:lstStyle/>
          <a:p>
            <a:pPr algn="l"/>
            <a:r>
              <a:rPr sz="3200" b="1" i="0">
                <a:solidFill>
                  <a:srgbClr val="FFFFFF"/>
                </a:solidFill>
              </a:rPr>
              <a:t>The Problem With Old-Style Recommenders</a:t>
            </a:r>
          </a:p>
        </p:txBody>
      </p:sp>
      <p:sp>
        <p:nvSpPr>
          <p:cNvPr id="3" name="Rectangle 2"/>
          <p:cNvSpPr/>
          <p:nvPr/>
        </p:nvSpPr>
        <p:spPr>
          <a:xfrm>
            <a:off x="457200" y="868680"/>
            <a:ext cx="11274552" cy="36576"/>
          </a:xfrm>
          <a:prstGeom prst="rect">
            <a:avLst/>
          </a:prstGeom>
          <a:solidFill>
            <a:srgbClr val="6C4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051560"/>
            <a:ext cx="5303520" cy="5029200"/>
          </a:xfrm>
          <a:prstGeom prst="rect">
            <a:avLst/>
          </a:prstGeom>
          <a:solidFill>
            <a:srgbClr val="252540"/>
          </a:solidFill>
          <a:ln w="19050">
            <a:solidFill>
              <a:srgbClr val="6C4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143000"/>
            <a:ext cx="4937760" cy="457200"/>
          </a:xfrm>
          <a:prstGeom prst="rect">
            <a:avLst/>
          </a:prstGeom>
          <a:noFill/>
        </p:spPr>
        <p:txBody>
          <a:bodyPr wrap="square">
            <a:spAutoFit/>
          </a:bodyPr>
          <a:lstStyle/>
          <a:p>
            <a:pPr algn="l"/>
            <a:r>
              <a:rPr sz="1800" b="1" i="0">
                <a:solidFill>
                  <a:srgbClr val="6C47FF"/>
                </a:solidFill>
              </a:rPr>
              <a:t>Old approach (Module 3)</a:t>
            </a:r>
          </a:p>
        </p:txBody>
      </p:sp>
      <p:sp>
        <p:nvSpPr>
          <p:cNvPr id="6" name="TextBox 5"/>
          <p:cNvSpPr txBox="1"/>
          <p:nvPr/>
        </p:nvSpPr>
        <p:spPr>
          <a:xfrm>
            <a:off x="640080" y="1691640"/>
            <a:ext cx="4937760" cy="2743200"/>
          </a:xfrm>
          <a:prstGeom prst="rect">
            <a:avLst/>
          </a:prstGeom>
          <a:noFill/>
        </p:spPr>
        <p:txBody>
          <a:bodyPr wrap="square">
            <a:spAutoFit/>
          </a:bodyPr>
          <a:lstStyle/>
          <a:p>
            <a:pPr algn="l">
              <a:spcAft>
                <a:spcPts val="800"/>
              </a:spcAft>
            </a:pPr>
            <a:r>
              <a:rPr sz="1900">
                <a:solidFill>
                  <a:srgbClr val="CCCCCC"/>
                </a:solidFill>
              </a:rPr>
              <a:t>•  Fill in a form: genre, mood, energy</a:t>
            </a:r>
          </a:p>
          <a:p>
            <a:pPr algn="l">
              <a:spcAft>
                <a:spcPts val="800"/>
              </a:spcAft>
            </a:pPr>
            <a:r>
              <a:rPr sz="1900">
                <a:solidFill>
                  <a:srgbClr val="CCCCCC"/>
                </a:solidFill>
              </a:rPr>
              <a:t>•  System matches on exact labels</a:t>
            </a:r>
          </a:p>
          <a:p>
            <a:pPr algn="l">
              <a:spcAft>
                <a:spcPts val="800"/>
              </a:spcAft>
            </a:pPr>
            <a:r>
              <a:rPr sz="1900">
                <a:solidFill>
                  <a:srgbClr val="CCCCCC"/>
                </a:solidFill>
              </a:rPr>
              <a:t>•  No understanding of what you mean</a:t>
            </a:r>
          </a:p>
          <a:p>
            <a:pPr algn="l">
              <a:spcAft>
                <a:spcPts val="800"/>
              </a:spcAft>
            </a:pPr>
            <a:r>
              <a:rPr sz="1900">
                <a:solidFill>
                  <a:srgbClr val="CCCCCC"/>
                </a:solidFill>
              </a:rPr>
              <a:t>•  Same inputs → same outputs, always</a:t>
            </a:r>
          </a:p>
        </p:txBody>
      </p:sp>
      <p:sp>
        <p:nvSpPr>
          <p:cNvPr id="7" name="Rectangle 6"/>
          <p:cNvSpPr/>
          <p:nvPr/>
        </p:nvSpPr>
        <p:spPr>
          <a:xfrm>
            <a:off x="6309360" y="1051560"/>
            <a:ext cx="5394960" cy="5029200"/>
          </a:xfrm>
          <a:prstGeom prst="rect">
            <a:avLst/>
          </a:prstGeom>
          <a:solidFill>
            <a:srgbClr val="1E2A3A"/>
          </a:solidFill>
          <a:ln w="1905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143000"/>
            <a:ext cx="5029200" cy="457200"/>
          </a:xfrm>
          <a:prstGeom prst="rect">
            <a:avLst/>
          </a:prstGeom>
          <a:noFill/>
        </p:spPr>
        <p:txBody>
          <a:bodyPr wrap="square">
            <a:spAutoFit/>
          </a:bodyPr>
          <a:lstStyle/>
          <a:p>
            <a:pPr algn="l"/>
            <a:r>
              <a:rPr sz="1800" b="1" i="0">
                <a:solidFill>
                  <a:srgbClr val="00D4AA"/>
                </a:solidFill>
              </a:rPr>
              <a:t>VibeMatch AI</a:t>
            </a:r>
          </a:p>
        </p:txBody>
      </p:sp>
      <p:sp>
        <p:nvSpPr>
          <p:cNvPr id="9" name="TextBox 8"/>
          <p:cNvSpPr txBox="1"/>
          <p:nvPr/>
        </p:nvSpPr>
        <p:spPr>
          <a:xfrm>
            <a:off x="6492240" y="1691640"/>
            <a:ext cx="5029200" cy="2743200"/>
          </a:xfrm>
          <a:prstGeom prst="rect">
            <a:avLst/>
          </a:prstGeom>
          <a:noFill/>
        </p:spPr>
        <p:txBody>
          <a:bodyPr wrap="square">
            <a:spAutoFit/>
          </a:bodyPr>
          <a:lstStyle/>
          <a:p>
            <a:pPr algn="l">
              <a:spcAft>
                <a:spcPts val="800"/>
              </a:spcAft>
            </a:pPr>
            <a:r>
              <a:rPr sz="1900">
                <a:solidFill>
                  <a:srgbClr val="FFFFFF"/>
                </a:solidFill>
              </a:rPr>
              <a:t>•  Type: "chill for late-night studying"</a:t>
            </a:r>
          </a:p>
          <a:p>
            <a:pPr algn="l">
              <a:spcAft>
                <a:spcPts val="800"/>
              </a:spcAft>
            </a:pPr>
            <a:r>
              <a:rPr sz="1900">
                <a:solidFill>
                  <a:srgbClr val="FFFFFF"/>
                </a:solidFill>
              </a:rPr>
              <a:t>•  System understands the intent</a:t>
            </a:r>
          </a:p>
          <a:p>
            <a:pPr algn="l">
              <a:spcAft>
                <a:spcPts val="800"/>
              </a:spcAft>
            </a:pPr>
            <a:r>
              <a:rPr sz="1900">
                <a:solidFill>
                  <a:srgbClr val="FFFFFF"/>
                </a:solidFill>
              </a:rPr>
              <a:t>•  RAG retrieves semantically similar songs</a:t>
            </a:r>
          </a:p>
          <a:p>
            <a:pPr algn="l">
              <a:spcAft>
                <a:spcPts val="800"/>
              </a:spcAft>
            </a:pPr>
            <a:r>
              <a:rPr sz="1900">
                <a:solidFill>
                  <a:srgbClr val="FFFFFF"/>
                </a:solidFill>
              </a:rPr>
              <a:t>•  Claude explains why it picked that song</a:t>
            </a:r>
          </a:p>
        </p:txBody>
      </p:sp>
      <p:sp>
        <p:nvSpPr>
          <p:cNvPr id="10" name="TextBox 9"/>
          <p:cNvSpPr txBox="1"/>
          <p:nvPr/>
        </p:nvSpPr>
        <p:spPr>
          <a:xfrm>
            <a:off x="5577840" y="3200400"/>
            <a:ext cx="731520" cy="731520"/>
          </a:xfrm>
          <a:prstGeom prst="rect">
            <a:avLst/>
          </a:prstGeom>
          <a:noFill/>
        </p:spPr>
        <p:txBody>
          <a:bodyPr wrap="square">
            <a:spAutoFit/>
          </a:bodyPr>
          <a:lstStyle/>
          <a:p>
            <a:pPr algn="ctr"/>
            <a:r>
              <a:rPr sz="4200" b="1" i="0">
                <a:solidFill>
                  <a:srgbClr val="6C47FF"/>
                </a:solidFill>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28600"/>
            <a:ext cx="10972800" cy="594360"/>
          </a:xfrm>
          <a:prstGeom prst="rect">
            <a:avLst/>
          </a:prstGeom>
          <a:noFill/>
        </p:spPr>
        <p:txBody>
          <a:bodyPr wrap="square">
            <a:spAutoFit/>
          </a:bodyPr>
          <a:lstStyle/>
          <a:p>
            <a:pPr algn="l"/>
            <a:r>
              <a:rPr sz="3200" b="1" i="0">
                <a:solidFill>
                  <a:srgbClr val="FFFFFF"/>
                </a:solidFill>
              </a:rPr>
              <a:t>System Architecture</a:t>
            </a:r>
          </a:p>
        </p:txBody>
      </p:sp>
      <p:sp>
        <p:nvSpPr>
          <p:cNvPr id="3" name="Rectangle 2"/>
          <p:cNvSpPr/>
          <p:nvPr/>
        </p:nvSpPr>
        <p:spPr>
          <a:xfrm>
            <a:off x="457200" y="868680"/>
            <a:ext cx="11274552" cy="36576"/>
          </a:xfrm>
          <a:prstGeom prst="rect">
            <a:avLst/>
          </a:prstGeom>
          <a:solidFill>
            <a:srgbClr val="6C4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rmaid_diagram.jpg"/>
          <p:cNvPicPr>
            <a:picLocks noChangeAspect="1"/>
          </p:cNvPicPr>
          <p:nvPr/>
        </p:nvPicPr>
        <p:blipFill>
          <a:blip r:embed="rId2"/>
          <a:stretch>
            <a:fillRect/>
          </a:stretch>
        </p:blipFill>
        <p:spPr>
          <a:xfrm>
            <a:off x="274320" y="1005840"/>
            <a:ext cx="7772400" cy="5120640"/>
          </a:xfrm>
          <a:prstGeom prst="rect">
            <a:avLst/>
          </a:prstGeom>
        </p:spPr>
      </p:pic>
      <p:sp>
        <p:nvSpPr>
          <p:cNvPr id="5" name="Rectangle 4"/>
          <p:cNvSpPr/>
          <p:nvPr/>
        </p:nvSpPr>
        <p:spPr>
          <a:xfrm>
            <a:off x="8229600" y="1188720"/>
            <a:ext cx="411480" cy="411480"/>
          </a:xfrm>
          <a:prstGeom prst="rect">
            <a:avLst/>
          </a:prstGeom>
          <a:solidFill>
            <a:srgbClr val="6C47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rPr>
              <a:t>1</a:t>
            </a:r>
          </a:p>
        </p:txBody>
      </p:sp>
      <p:sp>
        <p:nvSpPr>
          <p:cNvPr id="6" name="TextBox 5"/>
          <p:cNvSpPr txBox="1"/>
          <p:nvPr/>
        </p:nvSpPr>
        <p:spPr>
          <a:xfrm>
            <a:off x="8778240" y="1188720"/>
            <a:ext cx="3200400" cy="548640"/>
          </a:xfrm>
          <a:prstGeom prst="rect">
            <a:avLst/>
          </a:prstGeom>
          <a:noFill/>
        </p:spPr>
        <p:txBody>
          <a:bodyPr wrap="square">
            <a:spAutoFit/>
          </a:bodyPr>
          <a:lstStyle/>
          <a:p>
            <a:pPr algn="l"/>
            <a:r>
              <a:rPr sz="1700" b="0" i="0">
                <a:solidFill>
                  <a:srgbClr val="FFFFFF"/>
                </a:solidFill>
              </a:rPr>
              <a:t>Query → vector embedding</a:t>
            </a:r>
          </a:p>
        </p:txBody>
      </p:sp>
      <p:sp>
        <p:nvSpPr>
          <p:cNvPr id="7" name="Rectangle 6"/>
          <p:cNvSpPr/>
          <p:nvPr/>
        </p:nvSpPr>
        <p:spPr>
          <a:xfrm>
            <a:off x="8229600" y="2377440"/>
            <a:ext cx="411480" cy="411480"/>
          </a:xfrm>
          <a:prstGeom prst="rect">
            <a:avLst/>
          </a:prstGeom>
          <a:solidFill>
            <a:srgbClr val="00AAC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rPr>
              <a:t>2</a:t>
            </a:r>
          </a:p>
        </p:txBody>
      </p:sp>
      <p:sp>
        <p:nvSpPr>
          <p:cNvPr id="8" name="TextBox 7"/>
          <p:cNvSpPr txBox="1"/>
          <p:nvPr/>
        </p:nvSpPr>
        <p:spPr>
          <a:xfrm>
            <a:off x="8778240" y="2377440"/>
            <a:ext cx="3200400" cy="548640"/>
          </a:xfrm>
          <a:prstGeom prst="rect">
            <a:avLst/>
          </a:prstGeom>
          <a:noFill/>
        </p:spPr>
        <p:txBody>
          <a:bodyPr wrap="square">
            <a:spAutoFit/>
          </a:bodyPr>
          <a:lstStyle/>
          <a:p>
            <a:pPr algn="l"/>
            <a:r>
              <a:rPr sz="1700" b="0" i="0">
                <a:solidFill>
                  <a:srgbClr val="FFFFFF"/>
                </a:solidFill>
              </a:rPr>
              <a:t>RAG retrieves top 5 songs</a:t>
            </a:r>
          </a:p>
        </p:txBody>
      </p:sp>
      <p:sp>
        <p:nvSpPr>
          <p:cNvPr id="9" name="Rectangle 8"/>
          <p:cNvSpPr/>
          <p:nvPr/>
        </p:nvSpPr>
        <p:spPr>
          <a:xfrm>
            <a:off x="8229600" y="3566160"/>
            <a:ext cx="411480" cy="41148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rPr>
              <a:t>3</a:t>
            </a:r>
          </a:p>
        </p:txBody>
      </p:sp>
      <p:sp>
        <p:nvSpPr>
          <p:cNvPr id="10" name="TextBox 9"/>
          <p:cNvSpPr txBox="1"/>
          <p:nvPr/>
        </p:nvSpPr>
        <p:spPr>
          <a:xfrm>
            <a:off x="8778240" y="3566160"/>
            <a:ext cx="3200400" cy="548640"/>
          </a:xfrm>
          <a:prstGeom prst="rect">
            <a:avLst/>
          </a:prstGeom>
          <a:noFill/>
        </p:spPr>
        <p:txBody>
          <a:bodyPr wrap="square">
            <a:spAutoFit/>
          </a:bodyPr>
          <a:lstStyle/>
          <a:p>
            <a:pPr algn="l"/>
            <a:r>
              <a:rPr sz="1700" b="0" i="0">
                <a:solidFill>
                  <a:srgbClr val="FFFFFF"/>
                </a:solidFill>
              </a:rPr>
              <a:t>Claude picks best match</a:t>
            </a:r>
          </a:p>
        </p:txBody>
      </p:sp>
      <p:sp>
        <p:nvSpPr>
          <p:cNvPr id="11" name="Rectangle 10"/>
          <p:cNvSpPr/>
          <p:nvPr/>
        </p:nvSpPr>
        <p:spPr>
          <a:xfrm>
            <a:off x="8229600" y="4754880"/>
            <a:ext cx="411480" cy="4114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rPr>
              <a:t>4</a:t>
            </a:r>
          </a:p>
        </p:txBody>
      </p:sp>
      <p:sp>
        <p:nvSpPr>
          <p:cNvPr id="12" name="TextBox 11"/>
          <p:cNvSpPr txBox="1"/>
          <p:nvPr/>
        </p:nvSpPr>
        <p:spPr>
          <a:xfrm>
            <a:off x="8778240" y="4754880"/>
            <a:ext cx="3200400" cy="548640"/>
          </a:xfrm>
          <a:prstGeom prst="rect">
            <a:avLst/>
          </a:prstGeom>
          <a:noFill/>
        </p:spPr>
        <p:txBody>
          <a:bodyPr wrap="square">
            <a:spAutoFit/>
          </a:bodyPr>
          <a:lstStyle/>
          <a:p>
            <a:pPr algn="l"/>
            <a:r>
              <a:rPr sz="1700" b="0" i="0">
                <a:solidFill>
                  <a:srgbClr val="FFFFFF"/>
                </a:solidFill>
              </a:rPr>
              <a:t>Confidence score shown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28600"/>
            <a:ext cx="10972800" cy="594360"/>
          </a:xfrm>
          <a:prstGeom prst="rect">
            <a:avLst/>
          </a:prstGeom>
          <a:noFill/>
        </p:spPr>
        <p:txBody>
          <a:bodyPr wrap="square">
            <a:spAutoFit/>
          </a:bodyPr>
          <a:lstStyle/>
          <a:p>
            <a:pPr algn="l"/>
            <a:r>
              <a:rPr sz="3200" b="1" i="0">
                <a:solidFill>
                  <a:srgbClr val="FFFFFF"/>
                </a:solidFill>
              </a:rPr>
              <a:t>Live Demo</a:t>
            </a:r>
          </a:p>
        </p:txBody>
      </p:sp>
      <p:sp>
        <p:nvSpPr>
          <p:cNvPr id="3" name="Rectangle 2"/>
          <p:cNvSpPr/>
          <p:nvPr/>
        </p:nvSpPr>
        <p:spPr>
          <a:xfrm>
            <a:off x="457200" y="868680"/>
            <a:ext cx="11274552" cy="36576"/>
          </a:xfrm>
          <a:prstGeom prst="rect">
            <a:avLst/>
          </a:prstGeom>
          <a:solidFill>
            <a:srgbClr val="6C4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05840"/>
            <a:ext cx="10972800" cy="457200"/>
          </a:xfrm>
          <a:prstGeom prst="rect">
            <a:avLst/>
          </a:prstGeom>
          <a:noFill/>
        </p:spPr>
        <p:txBody>
          <a:bodyPr wrap="square">
            <a:spAutoFit/>
          </a:bodyPr>
          <a:lstStyle/>
          <a:p>
            <a:pPr algn="l"/>
            <a:r>
              <a:rPr sz="2000" b="0" i="1">
                <a:solidFill>
                  <a:srgbClr val="CCCCCC"/>
                </a:solidFill>
              </a:rPr>
              <a:t>3 queries — watch how behavior changes</a:t>
            </a:r>
          </a:p>
        </p:txBody>
      </p:sp>
      <p:sp>
        <p:nvSpPr>
          <p:cNvPr id="5" name="Rectangle 4"/>
          <p:cNvSpPr/>
          <p:nvPr/>
        </p:nvSpPr>
        <p:spPr>
          <a:xfrm>
            <a:off x="457200" y="1600200"/>
            <a:ext cx="11247120" cy="1371600"/>
          </a:xfrm>
          <a:prstGeom prst="rect">
            <a:avLst/>
          </a:prstGeom>
          <a:solidFill>
            <a:srgbClr val="222238"/>
          </a:solidFill>
          <a:ln w="1905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673352"/>
            <a:ext cx="1188720" cy="347472"/>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FFFF"/>
                </a:solidFill>
              </a:rPr>
              <a:t>Query 1</a:t>
            </a:r>
          </a:p>
        </p:txBody>
      </p:sp>
      <p:sp>
        <p:nvSpPr>
          <p:cNvPr id="7" name="TextBox 6"/>
          <p:cNvSpPr txBox="1"/>
          <p:nvPr/>
        </p:nvSpPr>
        <p:spPr>
          <a:xfrm>
            <a:off x="1920240" y="1645920"/>
            <a:ext cx="9601200" cy="502920"/>
          </a:xfrm>
          <a:prstGeom prst="rect">
            <a:avLst/>
          </a:prstGeom>
          <a:noFill/>
        </p:spPr>
        <p:txBody>
          <a:bodyPr wrap="square">
            <a:spAutoFit/>
          </a:bodyPr>
          <a:lstStyle/>
          <a:p>
            <a:pPr algn="l"/>
            <a:r>
              <a:rPr sz="1800" b="1" i="0">
                <a:solidFill>
                  <a:srgbClr val="FFFFFF"/>
                </a:solidFill>
              </a:rPr>
              <a:t>"something chill and focused for late night studying"</a:t>
            </a:r>
          </a:p>
        </p:txBody>
      </p:sp>
      <p:sp>
        <p:nvSpPr>
          <p:cNvPr id="8" name="TextBox 7"/>
          <p:cNvSpPr txBox="1"/>
          <p:nvPr/>
        </p:nvSpPr>
        <p:spPr>
          <a:xfrm>
            <a:off x="685800" y="2286000"/>
            <a:ext cx="10789920" cy="457200"/>
          </a:xfrm>
          <a:prstGeom prst="rect">
            <a:avLst/>
          </a:prstGeom>
          <a:noFill/>
        </p:spPr>
        <p:txBody>
          <a:bodyPr wrap="square">
            <a:spAutoFit/>
          </a:bodyPr>
          <a:lstStyle/>
          <a:p>
            <a:pPr algn="l"/>
            <a:r>
              <a:rPr sz="1700" b="0" i="0">
                <a:solidFill>
                  <a:srgbClr val="00D4AA"/>
                </a:solidFill>
              </a:rPr>
              <a:t>→  Focus Flow  ·  High confidence  ·  YouTube autoplays</a:t>
            </a:r>
          </a:p>
        </p:txBody>
      </p:sp>
      <p:sp>
        <p:nvSpPr>
          <p:cNvPr id="9" name="Rectangle 8"/>
          <p:cNvSpPr/>
          <p:nvPr/>
        </p:nvSpPr>
        <p:spPr>
          <a:xfrm>
            <a:off x="457200" y="3200400"/>
            <a:ext cx="11247120" cy="1371600"/>
          </a:xfrm>
          <a:prstGeom prst="rect">
            <a:avLst/>
          </a:prstGeom>
          <a:solidFill>
            <a:srgbClr val="222238"/>
          </a:solidFill>
          <a:ln w="19050">
            <a:solidFill>
              <a:srgbClr val="6C4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3273552"/>
            <a:ext cx="1188720" cy="347472"/>
          </a:xfrm>
          <a:prstGeom prst="rect">
            <a:avLst/>
          </a:prstGeom>
          <a:solidFill>
            <a:srgbClr val="6C47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FFFF"/>
                </a:solidFill>
              </a:rPr>
              <a:t>Query 2</a:t>
            </a:r>
          </a:p>
        </p:txBody>
      </p:sp>
      <p:sp>
        <p:nvSpPr>
          <p:cNvPr id="11" name="TextBox 10"/>
          <p:cNvSpPr txBox="1"/>
          <p:nvPr/>
        </p:nvSpPr>
        <p:spPr>
          <a:xfrm>
            <a:off x="1920240" y="3246120"/>
            <a:ext cx="9601200" cy="502920"/>
          </a:xfrm>
          <a:prstGeom prst="rect">
            <a:avLst/>
          </a:prstGeom>
          <a:noFill/>
        </p:spPr>
        <p:txBody>
          <a:bodyPr wrap="square">
            <a:spAutoFit/>
          </a:bodyPr>
          <a:lstStyle/>
          <a:p>
            <a:pPr algn="l"/>
            <a:r>
              <a:rPr sz="1800" b="1" i="0">
                <a:solidFill>
                  <a:srgbClr val="FFFFFF"/>
                </a:solidFill>
              </a:rPr>
              <a:t>"high energy upbeat song for a morning run"</a:t>
            </a:r>
          </a:p>
        </p:txBody>
      </p:sp>
      <p:sp>
        <p:nvSpPr>
          <p:cNvPr id="12" name="TextBox 11"/>
          <p:cNvSpPr txBox="1"/>
          <p:nvPr/>
        </p:nvSpPr>
        <p:spPr>
          <a:xfrm>
            <a:off x="685800" y="3886200"/>
            <a:ext cx="10789920" cy="457200"/>
          </a:xfrm>
          <a:prstGeom prst="rect">
            <a:avLst/>
          </a:prstGeom>
          <a:noFill/>
        </p:spPr>
        <p:txBody>
          <a:bodyPr wrap="square">
            <a:spAutoFit/>
          </a:bodyPr>
          <a:lstStyle/>
          <a:p>
            <a:pPr algn="l"/>
            <a:r>
              <a:rPr sz="1700" b="0" i="0">
                <a:solidFill>
                  <a:srgbClr val="6C47FF"/>
                </a:solidFill>
              </a:rPr>
              <a:t>→  Pulse Horizon  ·  High confidence  ·  0.95 energy, 140 BPM</a:t>
            </a:r>
          </a:p>
        </p:txBody>
      </p:sp>
      <p:sp>
        <p:nvSpPr>
          <p:cNvPr id="13" name="Rectangle 12"/>
          <p:cNvSpPr/>
          <p:nvPr/>
        </p:nvSpPr>
        <p:spPr>
          <a:xfrm>
            <a:off x="457200" y="4800600"/>
            <a:ext cx="11247120" cy="1371600"/>
          </a:xfrm>
          <a:prstGeom prst="rect">
            <a:avLst/>
          </a:prstGeom>
          <a:solidFill>
            <a:srgbClr val="222238"/>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4873752"/>
            <a:ext cx="1188720"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FFFF"/>
                </a:solidFill>
              </a:rPr>
              <a:t>Query 3</a:t>
            </a:r>
          </a:p>
        </p:txBody>
      </p:sp>
      <p:sp>
        <p:nvSpPr>
          <p:cNvPr id="15" name="TextBox 14"/>
          <p:cNvSpPr txBox="1"/>
          <p:nvPr/>
        </p:nvSpPr>
        <p:spPr>
          <a:xfrm>
            <a:off x="1920240" y="4846320"/>
            <a:ext cx="9601200" cy="502920"/>
          </a:xfrm>
          <a:prstGeom prst="rect">
            <a:avLst/>
          </a:prstGeom>
          <a:noFill/>
        </p:spPr>
        <p:txBody>
          <a:bodyPr wrap="square">
            <a:spAutoFit/>
          </a:bodyPr>
          <a:lstStyle/>
          <a:p>
            <a:pPr algn="l"/>
            <a:r>
              <a:rPr sz="1800" b="1" i="0">
                <a:solidFill>
                  <a:srgbClr val="FFFFFF"/>
                </a:solidFill>
              </a:rPr>
              <a:t>"music"  (intentionally vague)</a:t>
            </a:r>
          </a:p>
        </p:txBody>
      </p:sp>
      <p:sp>
        <p:nvSpPr>
          <p:cNvPr id="16" name="TextBox 15"/>
          <p:cNvSpPr txBox="1"/>
          <p:nvPr/>
        </p:nvSpPr>
        <p:spPr>
          <a:xfrm>
            <a:off x="685800" y="5486400"/>
            <a:ext cx="10789920" cy="457200"/>
          </a:xfrm>
          <a:prstGeom prst="rect">
            <a:avLst/>
          </a:prstGeom>
          <a:noFill/>
        </p:spPr>
        <p:txBody>
          <a:bodyPr wrap="square">
            <a:spAutoFit/>
          </a:bodyPr>
          <a:lstStyle/>
          <a:p>
            <a:pPr algn="l"/>
            <a:r>
              <a:rPr sz="1700" b="0" i="0">
                <a:solidFill>
                  <a:srgbClr val="FFA500"/>
                </a:solidFill>
              </a:rPr>
              <a:t>→  Low confidence  ·  similarity scores all cluster together</a:t>
            </a:r>
          </a:p>
        </p:txBody>
      </p:sp>
      <p:sp>
        <p:nvSpPr>
          <p:cNvPr id="17" name="TextBox 16"/>
          <p:cNvSpPr txBox="1"/>
          <p:nvPr/>
        </p:nvSpPr>
        <p:spPr>
          <a:xfrm>
            <a:off x="457200" y="6400800"/>
            <a:ext cx="11247120" cy="365760"/>
          </a:xfrm>
          <a:prstGeom prst="rect">
            <a:avLst/>
          </a:prstGeom>
          <a:noFill/>
        </p:spPr>
        <p:txBody>
          <a:bodyPr wrap="square">
            <a:spAutoFit/>
          </a:bodyPr>
          <a:lstStyle/>
          <a:p>
            <a:pPr algn="ctr"/>
            <a:r>
              <a:rPr sz="1500" b="0" i="1">
                <a:solidFill>
                  <a:srgbClr val="CCCCCC"/>
                </a:solidFill>
              </a:rPr>
              <a:t>Tip: open the RAG expander to see exactly what Claude was given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28600"/>
            <a:ext cx="10972800" cy="594360"/>
          </a:xfrm>
          <a:prstGeom prst="rect">
            <a:avLst/>
          </a:prstGeom>
          <a:noFill/>
        </p:spPr>
        <p:txBody>
          <a:bodyPr wrap="square">
            <a:spAutoFit/>
          </a:bodyPr>
          <a:lstStyle/>
          <a:p>
            <a:pPr algn="l"/>
            <a:r>
              <a:rPr sz="3200" b="1" i="0">
                <a:solidFill>
                  <a:srgbClr val="FFFFFF"/>
                </a:solidFill>
              </a:rPr>
              <a:t>What I Learned</a:t>
            </a:r>
          </a:p>
        </p:txBody>
      </p:sp>
      <p:sp>
        <p:nvSpPr>
          <p:cNvPr id="3" name="Rectangle 2"/>
          <p:cNvSpPr/>
          <p:nvPr/>
        </p:nvSpPr>
        <p:spPr>
          <a:xfrm>
            <a:off x="457200" y="868680"/>
            <a:ext cx="11274552" cy="36576"/>
          </a:xfrm>
          <a:prstGeom prst="rect">
            <a:avLst/>
          </a:prstGeom>
          <a:solidFill>
            <a:srgbClr val="6C4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051560"/>
            <a:ext cx="11247120" cy="1554480"/>
          </a:xfrm>
          <a:prstGeom prst="rect">
            <a:avLst/>
          </a:prstGeom>
          <a:solidFill>
            <a:srgbClr val="222238"/>
          </a:solidFill>
          <a:ln w="1905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39"/>
            <a:ext cx="822960" cy="822960"/>
          </a:xfrm>
          <a:prstGeom prst="rect">
            <a:avLst/>
          </a:prstGeom>
          <a:noFill/>
        </p:spPr>
        <p:txBody>
          <a:bodyPr wrap="square">
            <a:spAutoFit/>
          </a:bodyPr>
          <a:lstStyle/>
          <a:p>
            <a:pPr algn="ctr"/>
            <a:r>
              <a:rPr sz="3200" b="0" i="0">
                <a:solidFill>
                  <a:srgbClr val="FFFFFF"/>
                </a:solidFill>
              </a:rPr>
              <a:t>🔍</a:t>
            </a:r>
          </a:p>
        </p:txBody>
      </p:sp>
      <p:sp>
        <p:nvSpPr>
          <p:cNvPr id="6" name="TextBox 5"/>
          <p:cNvSpPr txBox="1"/>
          <p:nvPr/>
        </p:nvSpPr>
        <p:spPr>
          <a:xfrm>
            <a:off x="1463040" y="1143000"/>
            <a:ext cx="9875520" cy="502920"/>
          </a:xfrm>
          <a:prstGeom prst="rect">
            <a:avLst/>
          </a:prstGeom>
          <a:noFill/>
        </p:spPr>
        <p:txBody>
          <a:bodyPr wrap="square">
            <a:spAutoFit/>
          </a:bodyPr>
          <a:lstStyle/>
          <a:p>
            <a:pPr algn="l"/>
            <a:r>
              <a:rPr sz="2000" b="1" i="0">
                <a:solidFill>
                  <a:srgbClr val="00D4AA"/>
                </a:solidFill>
              </a:rPr>
              <a:t>Generation is only as good as retrieval</a:t>
            </a:r>
          </a:p>
        </p:txBody>
      </p:sp>
      <p:sp>
        <p:nvSpPr>
          <p:cNvPr id="7" name="TextBox 6"/>
          <p:cNvSpPr txBox="1"/>
          <p:nvPr/>
        </p:nvSpPr>
        <p:spPr>
          <a:xfrm>
            <a:off x="1463040" y="1645919"/>
            <a:ext cx="9875520" cy="822960"/>
          </a:xfrm>
          <a:prstGeom prst="rect">
            <a:avLst/>
          </a:prstGeom>
          <a:noFill/>
        </p:spPr>
        <p:txBody>
          <a:bodyPr wrap="square">
            <a:spAutoFit/>
          </a:bodyPr>
          <a:lstStyle/>
          <a:p>
            <a:pPr algn="l"/>
            <a:r>
              <a:rPr sz="1600" b="0" i="0">
                <a:solidFill>
                  <a:srgbClr val="CCCCCC"/>
                </a:solidFill>
              </a:rPr>
              <a:t>When Claude got the right songs, answers were specific and accurate.
Weak retrieval = weak recommendation — Claude was never the bottleneck.</a:t>
            </a:r>
          </a:p>
        </p:txBody>
      </p:sp>
      <p:sp>
        <p:nvSpPr>
          <p:cNvPr id="8" name="Rectangle 7"/>
          <p:cNvSpPr/>
          <p:nvPr/>
        </p:nvSpPr>
        <p:spPr>
          <a:xfrm>
            <a:off x="457200" y="2788920"/>
            <a:ext cx="11247120" cy="1554480"/>
          </a:xfrm>
          <a:prstGeom prst="rect">
            <a:avLst/>
          </a:prstGeom>
          <a:solidFill>
            <a:srgbClr val="222238"/>
          </a:solidFill>
          <a:ln w="19050">
            <a:solidFill>
              <a:srgbClr val="6C4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971800"/>
            <a:ext cx="822960" cy="822960"/>
          </a:xfrm>
          <a:prstGeom prst="rect">
            <a:avLst/>
          </a:prstGeom>
          <a:noFill/>
        </p:spPr>
        <p:txBody>
          <a:bodyPr wrap="square">
            <a:spAutoFit/>
          </a:bodyPr>
          <a:lstStyle/>
          <a:p>
            <a:pPr algn="ctr"/>
            <a:r>
              <a:rPr sz="3200" b="0" i="0">
                <a:solidFill>
                  <a:srgbClr val="FFFFFF"/>
                </a:solidFill>
              </a:rPr>
              <a:t>📊</a:t>
            </a:r>
          </a:p>
        </p:txBody>
      </p:sp>
      <p:sp>
        <p:nvSpPr>
          <p:cNvPr id="10" name="TextBox 9"/>
          <p:cNvSpPr txBox="1"/>
          <p:nvPr/>
        </p:nvSpPr>
        <p:spPr>
          <a:xfrm>
            <a:off x="1463040" y="2880360"/>
            <a:ext cx="9875520" cy="502920"/>
          </a:xfrm>
          <a:prstGeom prst="rect">
            <a:avLst/>
          </a:prstGeom>
          <a:noFill/>
        </p:spPr>
        <p:txBody>
          <a:bodyPr wrap="square">
            <a:spAutoFit/>
          </a:bodyPr>
          <a:lstStyle/>
          <a:p>
            <a:pPr algn="l"/>
            <a:r>
              <a:rPr sz="2000" b="1" i="0">
                <a:solidFill>
                  <a:srgbClr val="6C47FF"/>
                </a:solidFill>
              </a:rPr>
              <a:t>The confidence score was real signal, not decoration</a:t>
            </a:r>
          </a:p>
        </p:txBody>
      </p:sp>
      <p:sp>
        <p:nvSpPr>
          <p:cNvPr id="11" name="TextBox 10"/>
          <p:cNvSpPr txBox="1"/>
          <p:nvPr/>
        </p:nvSpPr>
        <p:spPr>
          <a:xfrm>
            <a:off x="1463040" y="3383279"/>
            <a:ext cx="9875520" cy="822960"/>
          </a:xfrm>
          <a:prstGeom prst="rect">
            <a:avLst/>
          </a:prstGeom>
          <a:noFill/>
        </p:spPr>
        <p:txBody>
          <a:bodyPr wrap="square">
            <a:spAutoFit/>
          </a:bodyPr>
          <a:lstStyle/>
          <a:p>
            <a:pPr algn="l"/>
            <a:r>
              <a:rPr sz="1600" b="0" i="0">
                <a:solidFill>
                  <a:srgbClr val="CCCCCC"/>
                </a:solidFill>
              </a:rPr>
              <a:t>Vague queries → clustered similarity scores → Low confidence.
Specific queries → spread scores → High confidence. It actually worked.</a:t>
            </a:r>
          </a:p>
        </p:txBody>
      </p:sp>
      <p:sp>
        <p:nvSpPr>
          <p:cNvPr id="12" name="Rectangle 11"/>
          <p:cNvSpPr/>
          <p:nvPr/>
        </p:nvSpPr>
        <p:spPr>
          <a:xfrm>
            <a:off x="457200" y="4526279"/>
            <a:ext cx="11247120" cy="1554480"/>
          </a:xfrm>
          <a:prstGeom prst="rect">
            <a:avLst/>
          </a:prstGeom>
          <a:solidFill>
            <a:srgbClr val="222238"/>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709159"/>
            <a:ext cx="822960" cy="822960"/>
          </a:xfrm>
          <a:prstGeom prst="rect">
            <a:avLst/>
          </a:prstGeom>
          <a:noFill/>
        </p:spPr>
        <p:txBody>
          <a:bodyPr wrap="square">
            <a:spAutoFit/>
          </a:bodyPr>
          <a:lstStyle/>
          <a:p>
            <a:pPr algn="ctr"/>
            <a:r>
              <a:rPr sz="3200" b="0" i="0">
                <a:solidFill>
                  <a:srgbClr val="FFFFFF"/>
                </a:solidFill>
              </a:rPr>
              <a:t>⚡</a:t>
            </a:r>
          </a:p>
        </p:txBody>
      </p:sp>
      <p:sp>
        <p:nvSpPr>
          <p:cNvPr id="14" name="TextBox 13"/>
          <p:cNvSpPr txBox="1"/>
          <p:nvPr/>
        </p:nvSpPr>
        <p:spPr>
          <a:xfrm>
            <a:off x="1463040" y="4617719"/>
            <a:ext cx="9875520" cy="502920"/>
          </a:xfrm>
          <a:prstGeom prst="rect">
            <a:avLst/>
          </a:prstGeom>
          <a:noFill/>
        </p:spPr>
        <p:txBody>
          <a:bodyPr wrap="square">
            <a:spAutoFit/>
          </a:bodyPr>
          <a:lstStyle/>
          <a:p>
            <a:pPr algn="l"/>
            <a:r>
              <a:rPr sz="2000" b="1" i="0">
                <a:solidFill>
                  <a:srgbClr val="FFA500"/>
                </a:solidFill>
              </a:rPr>
              <a:t>AI systems need graceful degradation</a:t>
            </a:r>
          </a:p>
        </p:txBody>
      </p:sp>
      <p:sp>
        <p:nvSpPr>
          <p:cNvPr id="15" name="TextBox 14"/>
          <p:cNvSpPr txBox="1"/>
          <p:nvPr/>
        </p:nvSpPr>
        <p:spPr>
          <a:xfrm>
            <a:off x="1463040" y="5120640"/>
            <a:ext cx="9875520" cy="822960"/>
          </a:xfrm>
          <a:prstGeom prst="rect">
            <a:avLst/>
          </a:prstGeom>
          <a:noFill/>
        </p:spPr>
        <p:txBody>
          <a:bodyPr wrap="square">
            <a:spAutoFit/>
          </a:bodyPr>
          <a:lstStyle/>
          <a:p>
            <a:pPr algn="l"/>
            <a:r>
              <a:rPr sz="1600" b="0" i="0">
                <a:solidFill>
                  <a:srgbClr val="CCCCCC"/>
                </a:solidFill>
              </a:rPr>
              <a:t>Anthropic credits ran out mid-project.
Built a Gemini 2.0 Flash fallback on the spot — app never went down.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28600"/>
            <a:ext cx="10972800" cy="594360"/>
          </a:xfrm>
          <a:prstGeom prst="rect">
            <a:avLst/>
          </a:prstGeom>
          <a:noFill/>
        </p:spPr>
        <p:txBody>
          <a:bodyPr wrap="square">
            <a:spAutoFit/>
          </a:bodyPr>
          <a:lstStyle/>
          <a:p>
            <a:pPr algn="l"/>
            <a:r>
              <a:rPr sz="3200" b="1" i="0">
                <a:solidFill>
                  <a:srgbClr val="FFFFFF"/>
                </a:solidFill>
              </a:rPr>
              <a:t>Portfolio</a:t>
            </a:r>
          </a:p>
        </p:txBody>
      </p:sp>
      <p:sp>
        <p:nvSpPr>
          <p:cNvPr id="3" name="Rectangle 2"/>
          <p:cNvSpPr/>
          <p:nvPr/>
        </p:nvSpPr>
        <p:spPr>
          <a:xfrm>
            <a:off x="457200" y="868680"/>
            <a:ext cx="11274552" cy="36576"/>
          </a:xfrm>
          <a:prstGeom prst="rect">
            <a:avLst/>
          </a:prstGeom>
          <a:solidFill>
            <a:srgbClr val="6C4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051560"/>
            <a:ext cx="6858000" cy="45720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00D4AA"/>
                </a:solidFill>
              </a:rPr>
              <a:t>github.com/yarinacs/applied-ai-system-project</a:t>
            </a:r>
          </a:p>
        </p:txBody>
      </p:sp>
      <p:sp>
        <p:nvSpPr>
          <p:cNvPr id="5" name="Rectangle 4"/>
          <p:cNvSpPr/>
          <p:nvPr/>
        </p:nvSpPr>
        <p:spPr>
          <a:xfrm>
            <a:off x="457200" y="1737360"/>
            <a:ext cx="11247120" cy="3474720"/>
          </a:xfrm>
          <a:prstGeom prst="rect">
            <a:avLst/>
          </a:prstGeom>
          <a:solidFill>
            <a:srgbClr val="202038"/>
          </a:solidFill>
          <a:ln w="19050">
            <a:solidFill>
              <a:srgbClr val="6C4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20240"/>
            <a:ext cx="10789920" cy="3108960"/>
          </a:xfrm>
          <a:prstGeom prst="rect">
            <a:avLst/>
          </a:prstGeom>
          <a:noFill/>
        </p:spPr>
        <p:txBody>
          <a:bodyPr wrap="square">
            <a:spAutoFit/>
          </a:bodyPr>
          <a:lstStyle/>
          <a:p>
            <a:pPr algn="l"/>
            <a:r>
              <a:rPr sz="1700" b="0" i="1">
                <a:solidFill>
                  <a:srgbClr val="FFFFFF"/>
                </a:solidFill>
              </a:rPr>
              <a:t>"This project shows that I care about building AI systems that are honest about what they're doing. I didn't just connect a language model to an input box — I built a retrieval layer that grounds every recommendation in real data, added a confidence score that tells users when the system is uncertain, and made the intermediate steps visible so anyone can see what the AI was given before it answered.
Throughout this project I was drawn to the questions around transparency and reliability — not just 'does the AI answer?' but 'does the user understand why, and can they trust it?' That instinct is what I want to bring to every AI system I build."</a:t>
            </a:r>
          </a:p>
        </p:txBody>
      </p:sp>
      <p:sp>
        <p:nvSpPr>
          <p:cNvPr id="7" name="TextBox 6"/>
          <p:cNvSpPr txBox="1"/>
          <p:nvPr/>
        </p:nvSpPr>
        <p:spPr>
          <a:xfrm>
            <a:off x="457200" y="6263640"/>
            <a:ext cx="11247120" cy="502920"/>
          </a:xfrm>
          <a:prstGeom prst="rect">
            <a:avLst/>
          </a:prstGeom>
          <a:noFill/>
        </p:spPr>
        <p:txBody>
          <a:bodyPr wrap="square">
            <a:spAutoFit/>
          </a:bodyPr>
          <a:lstStyle/>
          <a:p>
            <a:pPr algn="ctr"/>
            <a:r>
              <a:rPr sz="2600" b="1" i="0">
                <a:solidFill>
                  <a:srgbClr val="6C47FF"/>
                </a:solidFill>
              </a:rP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